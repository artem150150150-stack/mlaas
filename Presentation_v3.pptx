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 lIns="73152" rIns="73152">
            <a:normAutofit fontScale="85000" lnSpcReduction="20000"/>
          </a:bodyPr>
          <a:lstStyle/>
          <a:p>
            <a:pPr algn="ctr">
              <a:lnSpc>
                <a:spcPct val="110000"/>
              </a:lnSpc>
            </a:pPr>
            <a:r>
              <a:rPr sz="1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Восточно-Сибирский</a:t>
            </a:r>
            <a:r>
              <a:rPr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r>
              <a:rPr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</a:t>
            </a:r>
            <a:r>
              <a:rPr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(ВСГУТУ)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 lIns="73152" rIns="73152">
            <a:normAutofit fontScale="92500" lnSpcReduction="20000"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«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Разработка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исследование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веб‑сервиса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по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типу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Times New Roman"/>
              </a:rPr>
              <a:t>MLaaS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2180" y="5055577"/>
            <a:ext cx="3474720" cy="914400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</a:t>
            </a:r>
            <a:r>
              <a:rPr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Б762‑</a:t>
            </a:r>
            <a:r>
              <a:rPr lang="ru-RU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b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Мясников Артём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т.н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</a:t>
            </a:r>
            <a:r>
              <a:rPr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Найханова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Лариса Владимировна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Улан‑Удэ,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046720" cy="548640"/>
          </a:xfrm>
          <a:prstGeom prst="rect">
            <a:avLst/>
          </a:prstGeom>
          <a:noFill/>
        </p:spPr>
        <p:txBody>
          <a:bodyPr wrap="square" lIns="73152" rIns="73152">
            <a:normAutofit fontScale="92500" lnSpcReduction="20000"/>
          </a:bodyPr>
          <a:lstStyle/>
          <a:p>
            <a:pPr algn="l"/>
            <a:r>
              <a:rPr sz="4000" b="1" dirty="0" err="1">
                <a:solidFill>
                  <a:srgbClr val="000000"/>
                </a:solidFill>
                <a:latin typeface="Times New Roman"/>
              </a:rPr>
              <a:t>Актуальность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машинного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и </a:t>
            </a:r>
            <a:r>
              <a:rPr dirty="0" err="1"/>
              <a:t>потребность</a:t>
            </a:r>
            <a:r>
              <a:rPr dirty="0"/>
              <a:t> </a:t>
            </a:r>
            <a:r>
              <a:rPr dirty="0" err="1"/>
              <a:t>бизнеса</a:t>
            </a:r>
            <a:r>
              <a:rPr dirty="0"/>
              <a:t> в </a:t>
            </a:r>
            <a:r>
              <a:rPr dirty="0" err="1"/>
              <a:t>быстрых</a:t>
            </a:r>
            <a:r>
              <a:rPr dirty="0"/>
              <a:t> </a:t>
            </a:r>
            <a:r>
              <a:rPr dirty="0" err="1"/>
              <a:t>пилотах</a:t>
            </a:r>
            <a:r>
              <a:rPr dirty="0"/>
              <a:t> </a:t>
            </a:r>
            <a:r>
              <a:rPr dirty="0" err="1"/>
              <a:t>усиливают</a:t>
            </a:r>
            <a:r>
              <a:rPr dirty="0"/>
              <a:t> </a:t>
            </a:r>
            <a:r>
              <a:rPr dirty="0" err="1"/>
              <a:t>спрос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ML‑</a:t>
            </a:r>
            <a:r>
              <a:rPr dirty="0" err="1"/>
              <a:t>сервисы</a:t>
            </a:r>
            <a:r>
              <a:rPr dirty="0"/>
              <a:t> «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услуга</a:t>
            </a:r>
            <a:r>
              <a:rPr dirty="0"/>
              <a:t>».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1. </a:t>
            </a:r>
            <a:r>
              <a:rPr dirty="0" err="1"/>
              <a:t>Высокий</a:t>
            </a:r>
            <a:r>
              <a:rPr dirty="0"/>
              <a:t> </a:t>
            </a:r>
            <a:r>
              <a:rPr dirty="0" err="1"/>
              <a:t>порог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в ML: </a:t>
            </a:r>
            <a:r>
              <a:rPr dirty="0" err="1"/>
              <a:t>инфраструктура</a:t>
            </a:r>
            <a:r>
              <a:rPr dirty="0"/>
              <a:t>, </a:t>
            </a:r>
            <a:r>
              <a:rPr dirty="0" err="1"/>
              <a:t>деплой</a:t>
            </a:r>
            <a:r>
              <a:rPr dirty="0"/>
              <a:t>, </a:t>
            </a:r>
            <a:r>
              <a:rPr dirty="0" err="1"/>
              <a:t>мониторинг</a:t>
            </a:r>
            <a:r>
              <a:rPr dirty="0"/>
              <a:t>, </a:t>
            </a:r>
            <a:r>
              <a:rPr dirty="0" err="1"/>
              <a:t>безопасность</a:t>
            </a:r>
            <a:endParaRPr dirty="0"/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2. </a:t>
            </a:r>
            <a:r>
              <a:rPr dirty="0" err="1"/>
              <a:t>Фрагментация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: </a:t>
            </a:r>
            <a:r>
              <a:rPr dirty="0" err="1"/>
              <a:t>обучение</a:t>
            </a:r>
            <a:r>
              <a:rPr dirty="0"/>
              <a:t>, </a:t>
            </a:r>
            <a:r>
              <a:rPr dirty="0" err="1"/>
              <a:t>реестр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, API и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разрознены</a:t>
            </a:r>
            <a:endParaRPr dirty="0"/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воспроизводимости</a:t>
            </a:r>
            <a:r>
              <a:rPr dirty="0"/>
              <a:t> и </a:t>
            </a:r>
            <a:r>
              <a:rPr dirty="0" err="1"/>
              <a:t>качества</a:t>
            </a:r>
            <a:r>
              <a:rPr dirty="0"/>
              <a:t>: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/</a:t>
            </a:r>
            <a:r>
              <a:rPr dirty="0" err="1"/>
              <a:t>моделей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метрик</a:t>
            </a:r>
            <a:endParaRPr dirty="0"/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MLaaS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предоставить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 и </a:t>
            </a:r>
            <a:r>
              <a:rPr dirty="0" err="1"/>
              <a:t>инференс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веб‑интерфейс</a:t>
            </a:r>
            <a:r>
              <a:rPr dirty="0"/>
              <a:t> и API с </a:t>
            </a:r>
            <a:r>
              <a:rPr dirty="0" err="1"/>
              <a:t>управлением</a:t>
            </a:r>
            <a:r>
              <a:rPr dirty="0"/>
              <a:t> </a:t>
            </a:r>
            <a:r>
              <a:rPr dirty="0" err="1"/>
              <a:t>жизненным</a:t>
            </a:r>
            <a:r>
              <a:rPr dirty="0"/>
              <a:t> </a:t>
            </a:r>
            <a:r>
              <a:rPr dirty="0" err="1"/>
              <a:t>циклом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00000"/>
                </a:solidFill>
                <a:latin typeface="Times New Roman"/>
              </a:rPr>
              <a:t>Краткий анализ предметной 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863840" cy="4605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MLaaS</a:t>
            </a:r>
            <a:r>
              <a:rPr dirty="0"/>
              <a:t> (Machine Learning as a Service) — </a:t>
            </a:r>
            <a:r>
              <a:rPr dirty="0" err="1"/>
              <a:t>сервис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 и </a:t>
            </a:r>
            <a:r>
              <a:rPr dirty="0" err="1"/>
              <a:t>инференс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услугу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веб‑интерфейс</a:t>
            </a:r>
            <a:r>
              <a:rPr dirty="0"/>
              <a:t> и API.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сущности</a:t>
            </a:r>
            <a:r>
              <a:rPr dirty="0"/>
              <a:t>: </a:t>
            </a:r>
            <a:r>
              <a:rPr dirty="0" err="1"/>
              <a:t>проект</a:t>
            </a:r>
            <a:r>
              <a:rPr dirty="0"/>
              <a:t>, </a:t>
            </a:r>
            <a:r>
              <a:rPr dirty="0" err="1"/>
              <a:t>датасет</a:t>
            </a:r>
            <a:r>
              <a:rPr dirty="0"/>
              <a:t>, </a:t>
            </a:r>
            <a:r>
              <a:rPr dirty="0" err="1"/>
              <a:t>эксперимент</a:t>
            </a:r>
            <a:r>
              <a:rPr dirty="0"/>
              <a:t>, </a:t>
            </a:r>
            <a:r>
              <a:rPr dirty="0" err="1"/>
              <a:t>обучающая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(job), </a:t>
            </a:r>
            <a:r>
              <a:rPr dirty="0" err="1"/>
              <a:t>модель</a:t>
            </a:r>
            <a:r>
              <a:rPr dirty="0"/>
              <a:t>, </a:t>
            </a:r>
            <a:r>
              <a:rPr dirty="0" err="1"/>
              <a:t>деплой</a:t>
            </a:r>
            <a:r>
              <a:rPr dirty="0"/>
              <a:t> (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в </a:t>
            </a:r>
            <a:r>
              <a:rPr dirty="0" err="1"/>
              <a:t>работе</a:t>
            </a:r>
            <a:r>
              <a:rPr dirty="0"/>
              <a:t>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Проблемы</a:t>
            </a:r>
            <a:r>
              <a:rPr dirty="0"/>
              <a:t>: </a:t>
            </a:r>
            <a:r>
              <a:rPr dirty="0" err="1"/>
              <a:t>сложность</a:t>
            </a:r>
            <a:r>
              <a:rPr dirty="0"/>
              <a:t> </a:t>
            </a:r>
            <a:r>
              <a:rPr dirty="0" err="1"/>
              <a:t>инфраструктуры</a:t>
            </a:r>
            <a:r>
              <a:rPr dirty="0"/>
              <a:t> (Docker/GPU), </a:t>
            </a:r>
            <a:r>
              <a:rPr dirty="0" err="1"/>
              <a:t>воспроизводимость</a:t>
            </a:r>
            <a:r>
              <a:rPr dirty="0"/>
              <a:t> </a:t>
            </a:r>
            <a:r>
              <a:rPr dirty="0" err="1"/>
              <a:t>экспериментов</a:t>
            </a:r>
            <a:r>
              <a:rPr dirty="0"/>
              <a:t>,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артефактов</a:t>
            </a:r>
            <a:r>
              <a:rPr dirty="0"/>
              <a:t> и </a:t>
            </a:r>
            <a:r>
              <a:rPr dirty="0" err="1"/>
              <a:t>версий</a:t>
            </a:r>
            <a:r>
              <a:rPr dirty="0"/>
              <a:t>, </a:t>
            </a: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MLOps</a:t>
            </a:r>
            <a:r>
              <a:rPr dirty="0"/>
              <a:t>: </a:t>
            </a: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пайплайна</a:t>
            </a:r>
            <a:r>
              <a:rPr dirty="0"/>
              <a:t> «</a:t>
            </a:r>
            <a:r>
              <a:rPr dirty="0" err="1"/>
              <a:t>данные</a:t>
            </a:r>
            <a:r>
              <a:rPr dirty="0"/>
              <a:t> → </a:t>
            </a:r>
            <a:r>
              <a:rPr dirty="0" err="1"/>
              <a:t>обучение</a:t>
            </a:r>
            <a:r>
              <a:rPr dirty="0"/>
              <a:t> → </a:t>
            </a:r>
            <a:r>
              <a:rPr dirty="0" err="1"/>
              <a:t>регистрация</a:t>
            </a:r>
            <a:r>
              <a:rPr dirty="0"/>
              <a:t> → </a:t>
            </a:r>
            <a:r>
              <a:rPr dirty="0" err="1"/>
              <a:t>деплой</a:t>
            </a:r>
            <a:r>
              <a:rPr dirty="0"/>
              <a:t> → </a:t>
            </a:r>
            <a:r>
              <a:rPr dirty="0" err="1"/>
              <a:t>инференс</a:t>
            </a:r>
            <a:r>
              <a:rPr dirty="0"/>
              <a:t>»,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версий</a:t>
            </a:r>
            <a:r>
              <a:rPr dirty="0"/>
              <a:t> и </a:t>
            </a:r>
            <a:r>
              <a:rPr dirty="0" err="1" smtClean="0"/>
              <a:t>метрик</a:t>
            </a:r>
            <a:r>
              <a:rPr dirty="0" smtClean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1097280"/>
          </a:xfrm>
          <a:prstGeom prst="rect">
            <a:avLst/>
          </a:prstGeom>
          <a:noFill/>
        </p:spPr>
        <p:txBody>
          <a:bodyPr wrap="square" lIns="73152" rIns="73152">
            <a:normAutofit fontScale="85000" lnSpcReduction="10000"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Цель:</a:t>
            </a:r>
            <a:r>
              <a:t/>
            </a:r>
            <a:br/>
            <a:r>
              <a:t>Проектирование и разработка веб‑сервиса MLaaS для управления обучением моделей, реестром моделей и инференсом через API на основе микросервисной архитектуры.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8046720" cy="3840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>
              <a:lnSpc>
                <a:spcPct val="115000"/>
              </a:lnSpc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Задачи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</a:t>
            </a:r>
            <a:r>
              <a:rPr dirty="0"/>
              <a:t/>
            </a:r>
            <a:br>
              <a:rPr dirty="0"/>
            </a:br>
            <a:r>
              <a:rPr dirty="0"/>
              <a:t>1. </a:t>
            </a:r>
            <a:r>
              <a:rPr dirty="0" err="1"/>
              <a:t>Провести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предметной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 и </a:t>
            </a:r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существующих</a:t>
            </a:r>
            <a:r>
              <a:rPr dirty="0"/>
              <a:t> </a:t>
            </a:r>
            <a:r>
              <a:rPr dirty="0" err="1"/>
              <a:t>MLaaS</a:t>
            </a:r>
            <a:r>
              <a:rPr dirty="0"/>
              <a:t>/</a:t>
            </a:r>
            <a:r>
              <a:rPr dirty="0" err="1"/>
              <a:t>MLOps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/>
            </a:r>
            <a:br>
              <a:rPr dirty="0"/>
            </a:br>
            <a:r>
              <a:rPr dirty="0"/>
              <a:t>2.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 с </a:t>
            </a:r>
            <a:r>
              <a:rPr dirty="0" err="1"/>
              <a:t>использованием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C4</a:t>
            </a:r>
            <a:br>
              <a:rPr dirty="0"/>
            </a:br>
            <a:r>
              <a:rPr dirty="0"/>
              <a:t>3. </a:t>
            </a:r>
            <a:r>
              <a:rPr dirty="0" err="1"/>
              <a:t>Спроектировать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взаимодействие</a:t>
            </a:r>
            <a:r>
              <a:rPr dirty="0"/>
              <a:t> </a:t>
            </a:r>
            <a:r>
              <a:rPr dirty="0" err="1"/>
              <a:t>микросервисов</a:t>
            </a:r>
            <a:r>
              <a:rPr dirty="0"/>
              <a:t> (</a:t>
            </a:r>
            <a:r>
              <a:rPr dirty="0" err="1"/>
              <a:t>RabbitMQ</a:t>
            </a:r>
            <a:r>
              <a:rPr dirty="0"/>
              <a:t>, </a:t>
            </a:r>
            <a:r>
              <a:rPr dirty="0" err="1"/>
              <a:t>MinIO</a:t>
            </a:r>
            <a:r>
              <a:rPr dirty="0"/>
              <a:t>)</a:t>
            </a:r>
            <a:br>
              <a:rPr dirty="0"/>
            </a:br>
            <a:r>
              <a:rPr dirty="0"/>
              <a:t>4.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серверную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Java / Spring Boot</a:t>
            </a:r>
            <a:br>
              <a:rPr dirty="0"/>
            </a:br>
            <a:r>
              <a:rPr dirty="0"/>
              <a:t>5.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пользовательский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(SPA)</a:t>
            </a:r>
            <a:br>
              <a:rPr dirty="0"/>
            </a:br>
            <a:r>
              <a:rPr dirty="0"/>
              <a:t>6.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пайплайн</a:t>
            </a:r>
            <a:r>
              <a:rPr dirty="0"/>
              <a:t>: </a:t>
            </a:r>
            <a:r>
              <a:rPr dirty="0" err="1"/>
              <a:t>загрузка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→ </a:t>
            </a:r>
            <a:r>
              <a:rPr dirty="0" err="1"/>
              <a:t>обучение</a:t>
            </a:r>
            <a:r>
              <a:rPr dirty="0"/>
              <a:t> → </a:t>
            </a:r>
            <a:r>
              <a:rPr dirty="0" err="1"/>
              <a:t>регистрация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→ </a:t>
            </a:r>
            <a:r>
              <a:rPr dirty="0" err="1"/>
              <a:t>деплой</a:t>
            </a:r>
            <a:r>
              <a:rPr dirty="0"/>
              <a:t> → </a:t>
            </a:r>
            <a:r>
              <a:rPr dirty="0" err="1"/>
              <a:t>инференс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Обзор существующих решений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MLflow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Kubeflow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SageMaker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Коммерческий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Коммерческий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Облачная</a:t>
                      </a:r>
                    </a:p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зависимость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Целевая аудитория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DS/ML инженеры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MLOps/Platform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Открытость API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Полная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Полная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Ограниченная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Ограниченная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Порог вхождения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Высокий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Стоимость</a:t>
                      </a:r>
                    </a:p>
                  </a:txBody>
                  <a:tcPr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Бесплатно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Бесплатно*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По потреблению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По потреблению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92240"/>
            <a:ext cx="822960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* эксплуатационные затраты зависят от инфраструктуры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Преимущества предлагаемого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863840" cy="54864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1. Локальное развертывание – возможно on‑premise, контроль данных и моделей</a:t>
            </a:r>
            <a:r>
              <a:t/>
            </a:r>
            <a:br/>
            <a:r>
              <a:t>2. Открытая архитектура – микросервисный подход, независимое масштабирование</a:t>
            </a:r>
            <a:br/>
            <a:r>
              <a:t>3. Веб‑интерфейс – доступ с любого устройства без установки ПО</a:t>
            </a:r>
            <a:br/>
            <a:r>
              <a:t>4. Асинхронные задачи – RabbitMQ для очередей обучения, статусы и логи выполнения</a:t>
            </a:r>
            <a:br/>
            <a:r>
              <a:t>5. Контроль артефактов – MinIO (S3) для датасетов и моделей, версионирование и аудит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>
            <a:off x="182880" y="1097280"/>
            <a:ext cx="2926080" cy="5212080"/>
          </a:xfrm>
          <a:prstGeom prst="rightArrow">
            <a:avLst/>
          </a:prstGeom>
          <a:solidFill>
            <a:srgbClr val="0C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Диаграмма</a:t>
            </a:r>
            <a:r>
              <a:t/>
            </a:r>
            <a:br/>
            <a:r>
              <a:t>вариантов</a:t>
            </a:r>
            <a:br/>
            <a:r>
              <a:t>использования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0" y="1005840"/>
            <a:ext cx="56692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secase_ml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53035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Диаграмма контекста C1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0" y="1005840"/>
            <a:ext cx="56692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1_ml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53035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>
            <a:off x="0" y="1413803"/>
            <a:ext cx="2926080" cy="3931920"/>
          </a:xfrm>
          <a:prstGeom prst="rightArrow">
            <a:avLst/>
          </a:prstGeom>
          <a:solidFill>
            <a:srgbClr val="0C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sz="3000" b="1" dirty="0" err="1">
                <a:solidFill>
                  <a:srgbClr val="FFFFFF"/>
                </a:solidFill>
                <a:latin typeface="Times New Roman"/>
              </a:rPr>
              <a:t>Диаграмма</a:t>
            </a:r>
            <a:r>
              <a:rPr dirty="0"/>
              <a:t/>
            </a:r>
            <a:br>
              <a:rPr dirty="0"/>
            </a:br>
            <a:r>
              <a:rPr dirty="0" err="1"/>
              <a:t>контейнеров</a:t>
            </a:r>
            <a:r>
              <a:rPr dirty="0"/>
              <a:t/>
            </a:r>
            <a:br>
              <a:rPr dirty="0"/>
            </a:br>
            <a:r>
              <a:rPr dirty="0"/>
              <a:t>C2</a:t>
            </a:r>
          </a:p>
        </p:txBody>
      </p:sp>
      <p:pic>
        <p:nvPicPr>
          <p:cNvPr id="4" name="Picture 3" descr="c2_ml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638" y="201949"/>
            <a:ext cx="6594231" cy="6480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 fontScale="92500"/>
          </a:bodyPr>
          <a:lstStyle/>
          <a:p>
            <a:pPr algn="ctr"/>
            <a:r>
              <a:rPr sz="3800" b="1">
                <a:solidFill>
                  <a:srgbClr val="000000"/>
                </a:solidFill>
                <a:latin typeface="Times New Roman"/>
              </a:rPr>
              <a:t>Детализация компонента Backend C3</a:t>
            </a:r>
          </a:p>
        </p:txBody>
      </p:sp>
      <p:pic>
        <p:nvPicPr>
          <p:cNvPr id="4" name="Picture 3" descr="c3_backend_ml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508" y="1397976"/>
            <a:ext cx="9311054" cy="42818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Логическая модель данных</a:t>
            </a:r>
          </a:p>
        </p:txBody>
      </p:sp>
      <p:sp>
        <p:nvSpPr>
          <p:cNvPr id="3" name="Right Arrow 2"/>
          <p:cNvSpPr/>
          <p:nvPr/>
        </p:nvSpPr>
        <p:spPr>
          <a:xfrm>
            <a:off x="182880" y="1097280"/>
            <a:ext cx="2926080" cy="5212080"/>
          </a:xfrm>
          <a:prstGeom prst="rightArrow">
            <a:avLst/>
          </a:prstGeom>
          <a:solidFill>
            <a:srgbClr val="0C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sz="3000" b="1" dirty="0" err="1">
                <a:solidFill>
                  <a:srgbClr val="FFFFFF"/>
                </a:solidFill>
                <a:latin typeface="Times New Roman"/>
              </a:rPr>
              <a:t>На</a:t>
            </a:r>
            <a:r>
              <a:rPr sz="30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imes New Roman"/>
              </a:rPr>
              <a:t>основе</a:t>
            </a:r>
            <a:r>
              <a:rPr dirty="0"/>
              <a:t/>
            </a:r>
            <a:br>
              <a:rPr dirty="0"/>
            </a:br>
            <a:r>
              <a:rPr dirty="0"/>
              <a:t>JPA / Hibernate</a:t>
            </a:r>
          </a:p>
        </p:txBody>
      </p:sp>
      <p:pic>
        <p:nvPicPr>
          <p:cNvPr id="4" name="Picture 3" descr="erd_ml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15" y="844063"/>
            <a:ext cx="3886200" cy="5890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00000"/>
                </a:solidFill>
                <a:latin typeface="Times New Roman"/>
              </a:rPr>
              <a:t>Языки программирования и технологии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680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Технологии</a:t>
                      </a:r>
                    </a:p>
                  </a:txBody>
                  <a:tcPr>
                    <a:solidFill>
                      <a:srgbClr val="0C4D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Frontend (Web UI)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React (SPA), HTML/CSS, REST/JSON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Java, Spring Boot, Spring Security, REST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Очередь задач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RabbitMQ (AMQP), фоновые воркеры обучения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Хранилище артефактов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MinIO</a:t>
                      </a:r>
                      <a:r>
                        <a:rPr dirty="0"/>
                        <a:t> (S3 API): </a:t>
                      </a:r>
                      <a:r>
                        <a:rPr dirty="0" err="1"/>
                        <a:t>датасеты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модели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логи</a:t>
                      </a:r>
                      <a:endParaRPr dirty="0"/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База данных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PostgreSQL, JPA/Hibernate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Контейнеризация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Docker (</a:t>
                      </a:r>
                      <a:r>
                        <a:rPr dirty="0" err="1"/>
                        <a:t>сервисы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воркеры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E6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772400" cy="5303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MLaaS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выявлены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внедрения</a:t>
            </a:r>
            <a:r>
              <a:rPr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Сформулированы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MLaaS‑сервису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вариантов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использования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методологии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C4 Model (C1–C3)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проекты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Описано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RabbitMQ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артефактов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5400" b="1">
                <a:solidFill>
                  <a:srgbClr val="000000"/>
                </a:solidFill>
                <a:latin typeface="Times New Roman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364</Words>
  <Application>Microsoft Office PowerPoint</Application>
  <PresentationFormat>Экран (4:3)</PresentationFormat>
  <Paragraphs>84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мясников артём</cp:lastModifiedBy>
  <cp:revision>7</cp:revision>
  <dcterms:created xsi:type="dcterms:W3CDTF">2013-01-27T09:14:16Z</dcterms:created>
  <dcterms:modified xsi:type="dcterms:W3CDTF">2026-05-18T08:14:22Z</dcterms:modified>
  <cp:category/>
</cp:coreProperties>
</file>